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8229600" cx="14630400"/>
  <p:notesSz cx="6858000" cy="9144000"/>
  <p:embeddedFontLst>
    <p:embeddedFont>
      <p:font typeface="ADLaM Display"/>
      <p:regular r:id="rId20"/>
    </p:embeddedFont>
    <p:embeddedFont>
      <p:font typeface="Merriweather Light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2BcZaqdyy3Y4Qm6eHHFaMpLB8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DLaMDisplay-regular.fntdata"/><Relationship Id="rId22" Type="http://schemas.openxmlformats.org/officeDocument/2006/relationships/font" Target="fonts/MerriweatherLight-bold.fntdata"/><Relationship Id="rId21" Type="http://schemas.openxmlformats.org/officeDocument/2006/relationships/font" Target="fonts/MerriweatherLight-regular.fntdata"/><Relationship Id="rId24" Type="http://schemas.openxmlformats.org/officeDocument/2006/relationships/font" Target="fonts/MerriweatherLight-boldItalic.fntdata"/><Relationship Id="rId23" Type="http://schemas.openxmlformats.org/officeDocument/2006/relationships/font" Target="fonts/Merriweather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Integrantes del Proyecto con su cargo y sus funciones desempeñadas</a:t>
            </a:r>
            <a:endParaRPr/>
          </a:p>
        </p:txBody>
      </p:sp>
      <p:sp>
        <p:nvSpPr>
          <p:cNvPr id="107" name="Google Shape;10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explica el problema encontrado y la Propuesta de solución que se ofrece</a:t>
            </a:r>
            <a:endParaRPr/>
          </a:p>
        </p:txBody>
      </p:sp>
      <p:sp>
        <p:nvSpPr>
          <p:cNvPr id="126" name="Google Shape;1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explica el objetivo General del Proyecto y los objetivos específicos u</a:t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132b32c46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9132b32c46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Alcances y limitaciones que tiene el proyecto</a:t>
            </a:r>
            <a:endParaRPr/>
          </a:p>
        </p:txBody>
      </p:sp>
      <p:sp>
        <p:nvSpPr>
          <p:cNvPr id="174" name="Google Shape;174;g39132b32c46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 explica la Metodología de trabajo que se utilizó para el desarrollo del proyecto</a:t>
            </a:r>
            <a:endParaRPr sz="800"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Cronograma del Proyecto: Mostrar Gantt y talvez gráficos explicando algo</a:t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Arquitectura del Proyecto y las Tecnologías Utilizadas</a:t>
            </a:r>
            <a:endParaRPr/>
          </a:p>
        </p:txBody>
      </p:sp>
      <p:sp>
        <p:nvSpPr>
          <p:cNvPr id="219" name="Google Shape;2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explica el Modelo De Datos</a:t>
            </a:r>
            <a:endParaRPr/>
          </a:p>
        </p:txBody>
      </p:sp>
      <p:sp>
        <p:nvSpPr>
          <p:cNvPr id="251" name="Google Shape;25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d41269594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ad41269594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explica el Modelo De Datos</a:t>
            </a:r>
            <a:endParaRPr/>
          </a:p>
        </p:txBody>
      </p:sp>
      <p:sp>
        <p:nvSpPr>
          <p:cNvPr id="294" name="Google Shape;294;g3ad41269594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explica el Modelo De Datos</a:t>
            </a:r>
            <a:endParaRPr/>
          </a:p>
        </p:txBody>
      </p:sp>
      <p:sp>
        <p:nvSpPr>
          <p:cNvPr id="301" name="Google Shape;3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1828800" y="1346836"/>
            <a:ext cx="10972800" cy="2865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828800" y="4322446"/>
            <a:ext cx="10972800" cy="1986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80"/>
              <a:buNone/>
              <a:defRPr sz="288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216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ctrTitle"/>
          </p:nvPr>
        </p:nvSpPr>
        <p:spPr>
          <a:xfrm>
            <a:off x="1828800" y="1346836"/>
            <a:ext cx="10972800" cy="2865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subTitle"/>
          </p:nvPr>
        </p:nvSpPr>
        <p:spPr>
          <a:xfrm>
            <a:off x="1828800" y="4322446"/>
            <a:ext cx="10972800" cy="1986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/>
          <p:nvPr>
            <p:ph type="title"/>
          </p:nvPr>
        </p:nvSpPr>
        <p:spPr>
          <a:xfrm>
            <a:off x="998220" y="2051686"/>
            <a:ext cx="12618720" cy="34232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" type="body"/>
          </p:nvPr>
        </p:nvSpPr>
        <p:spPr>
          <a:xfrm>
            <a:off x="998220" y="5507356"/>
            <a:ext cx="12618720" cy="1800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" type="body"/>
          </p:nvPr>
        </p:nvSpPr>
        <p:spPr>
          <a:xfrm>
            <a:off x="1005840" y="2190750"/>
            <a:ext cx="62179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2" type="body"/>
          </p:nvPr>
        </p:nvSpPr>
        <p:spPr>
          <a:xfrm>
            <a:off x="7406640" y="2190750"/>
            <a:ext cx="62179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/>
          <p:nvPr>
            <p:ph type="title"/>
          </p:nvPr>
        </p:nvSpPr>
        <p:spPr>
          <a:xfrm>
            <a:off x="1007746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" type="body"/>
          </p:nvPr>
        </p:nvSpPr>
        <p:spPr>
          <a:xfrm>
            <a:off x="1007746" y="2017396"/>
            <a:ext cx="6189344" cy="988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55" name="Google Shape;55;p21"/>
          <p:cNvSpPr txBox="1"/>
          <p:nvPr>
            <p:ph idx="2" type="body"/>
          </p:nvPr>
        </p:nvSpPr>
        <p:spPr>
          <a:xfrm>
            <a:off x="1007746" y="3006090"/>
            <a:ext cx="6189344" cy="44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3" type="body"/>
          </p:nvPr>
        </p:nvSpPr>
        <p:spPr>
          <a:xfrm>
            <a:off x="7406640" y="2017396"/>
            <a:ext cx="6219826" cy="988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57" name="Google Shape;57;p21"/>
          <p:cNvSpPr txBox="1"/>
          <p:nvPr>
            <p:ph idx="4" type="body"/>
          </p:nvPr>
        </p:nvSpPr>
        <p:spPr>
          <a:xfrm>
            <a:off x="7406640" y="3006090"/>
            <a:ext cx="6219826" cy="44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1007746" y="548640"/>
            <a:ext cx="471868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Calibri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>
            <a:off x="6219826" y="1184911"/>
            <a:ext cx="7406640" cy="584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244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840"/>
              <a:buChar char="•"/>
              <a:defRPr sz="3840"/>
            </a:lvl1pPr>
            <a:lvl2pPr indent="-44196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2pPr>
            <a:lvl3pPr indent="-41148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880"/>
            </a:lvl3pPr>
            <a:lvl4pPr indent="-3810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73" name="Google Shape;73;p24"/>
          <p:cNvSpPr txBox="1"/>
          <p:nvPr>
            <p:ph idx="2" type="body"/>
          </p:nvPr>
        </p:nvSpPr>
        <p:spPr>
          <a:xfrm>
            <a:off x="1007746" y="2468880"/>
            <a:ext cx="4718684" cy="45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4" name="Google Shape;74;p24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"/>
          <p:cNvSpPr txBox="1"/>
          <p:nvPr>
            <p:ph type="title"/>
          </p:nvPr>
        </p:nvSpPr>
        <p:spPr>
          <a:xfrm>
            <a:off x="1007746" y="548640"/>
            <a:ext cx="471868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Calibri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/>
          <p:nvPr>
            <p:ph idx="2" type="pic"/>
          </p:nvPr>
        </p:nvSpPr>
        <p:spPr>
          <a:xfrm>
            <a:off x="6219826" y="1184911"/>
            <a:ext cx="7406640" cy="584835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5"/>
          <p:cNvSpPr txBox="1"/>
          <p:nvPr>
            <p:ph idx="1" type="body"/>
          </p:nvPr>
        </p:nvSpPr>
        <p:spPr>
          <a:xfrm>
            <a:off x="1007746" y="2468880"/>
            <a:ext cx="4718684" cy="45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" type="body"/>
          </p:nvPr>
        </p:nvSpPr>
        <p:spPr>
          <a:xfrm rot="5400000">
            <a:off x="4704397" y="-1507807"/>
            <a:ext cx="5221606" cy="1261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/>
          <p:nvPr>
            <p:ph type="title"/>
          </p:nvPr>
        </p:nvSpPr>
        <p:spPr>
          <a:xfrm rot="5400000">
            <a:off x="8560117" y="2347913"/>
            <a:ext cx="6974206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" type="body"/>
          </p:nvPr>
        </p:nvSpPr>
        <p:spPr>
          <a:xfrm rot="5400000">
            <a:off x="2159317" y="-715327"/>
            <a:ext cx="6974206" cy="928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80"/>
              <a:buFont typeface="Calibri"/>
              <a:buNone/>
              <a:defRPr b="0" i="0" sz="528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196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360"/>
              <a:buFont typeface="Arial"/>
              <a:buChar char="•"/>
              <a:defRPr b="0" i="0" sz="3359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1148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80"/>
              <a:buFont typeface="Arial"/>
              <a:buChar char="•"/>
              <a:defRPr b="0" i="0" sz="288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576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576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576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576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5759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5759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80"/>
              <a:buFont typeface="Calibri"/>
              <a:buNone/>
              <a:defRPr b="0" i="0" sz="5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196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b="0" i="0" sz="33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1148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  <a:defRPr b="0" i="0" sz="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576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576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576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576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5759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5759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0"/>
            <a:ext cx="14626742" cy="822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sa en frente de un edificio&#10;&#10;El contenido generado por IA puede ser incorrecto." id="101" name="Google Shape;101;p1"/>
          <p:cNvPicPr preferRelativeResize="0"/>
          <p:nvPr/>
        </p:nvPicPr>
        <p:blipFill rotWithShape="1">
          <a:blip r:embed="rId3">
            <a:alphaModFix amt="40000"/>
          </a:blip>
          <a:srcRect b="6590" l="0" r="0" t="9139"/>
          <a:stretch/>
        </p:blipFill>
        <p:spPr>
          <a:xfrm>
            <a:off x="-28" y="-3"/>
            <a:ext cx="14630399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4582" y="5439073"/>
            <a:ext cx="6280332" cy="15706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Capstone TeLoCambio</a:t>
            </a:r>
            <a:endParaRPr/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4400" y="265212"/>
            <a:ext cx="10261600" cy="2525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3464085" y="204303"/>
            <a:ext cx="7702229" cy="771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Integrantes</a:t>
            </a:r>
            <a:r>
              <a:rPr b="0" i="0" lang="en-US" sz="485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 del Proyecto</a:t>
            </a:r>
            <a:endParaRPr b="0" i="0" sz="4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797850" y="1525300"/>
            <a:ext cx="7792525" cy="5405444"/>
            <a:chOff x="-1" y="0"/>
            <a:chExt cx="7792525" cy="4541245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Calibri"/>
                <a:buNone/>
              </a:pPr>
              <a:r>
                <a:rPr lang="en-US"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Rodrigo Barra</a:t>
              </a:r>
              <a:endPara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Scrum Master/ Desarrollador Full Stack</a:t>
              </a:r>
              <a:endParaRPr b="0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Char char="•"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Funciones</a:t>
              </a:r>
              <a:r>
                <a:rPr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Organiza sprints, Desarrollador Full Stack, Diseño base de datos</a:t>
              </a:r>
              <a:endParaRPr b="0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blipFill rotWithShape="1">
              <a:blip r:embed="rId4">
                <a:alphaModFix/>
              </a:blip>
              <a:stretch>
                <a:fillRect b="-20998" l="0" r="0" t="-20998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" y="1495506"/>
              <a:ext cx="7633500" cy="1482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1662649" y="1495506"/>
              <a:ext cx="5970900" cy="1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Calibri"/>
                <a:buNone/>
              </a:pPr>
              <a:r>
                <a:rPr lang="en-US"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Octavio Quezada</a:t>
              </a:r>
              <a:endPara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 / Desarrollador FrontEnd</a:t>
              </a:r>
              <a:endParaRPr b="0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Char char="•"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Funciones : </a:t>
              </a:r>
              <a:r>
                <a:rPr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Define requisitos visión y prioriza el backlog, Programación FrontEnd</a:t>
              </a:r>
              <a:endParaRPr b="0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35949" y="1631456"/>
              <a:ext cx="1526700" cy="1200300"/>
            </a:xfrm>
            <a:prstGeom prst="roundRect">
              <a:avLst>
                <a:gd fmla="val 10000" name="adj"/>
              </a:avLst>
            </a:prstGeom>
            <a:blipFill rotWithShape="1">
              <a:blip r:embed="rId5">
                <a:alphaModFix/>
              </a:blip>
              <a:stretch>
                <a:fillRect b="-21998" l="0" r="0" t="-21998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0" y="318163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1821624" y="3181645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Calibri"/>
                <a:buNone/>
              </a:pPr>
              <a:r>
                <a:rPr lang="en-US" sz="2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Paul López</a:t>
              </a:r>
              <a:endParaRPr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QA/ Desarrollador FrontEnd</a:t>
              </a:r>
              <a:endParaRPr b="0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Char char="•"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Funciones</a:t>
              </a:r>
              <a:r>
                <a:rPr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:Documentador, Pruebas/reportar errores, Programación FrontEnd</a:t>
              </a:r>
              <a:endParaRPr b="0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208454" y="3317685"/>
              <a:ext cx="1526700" cy="1087500"/>
            </a:xfrm>
            <a:prstGeom prst="roundRect">
              <a:avLst>
                <a:gd fmla="val 10000" name="adj"/>
              </a:avLst>
            </a:prstGeom>
            <a:blipFill rotWithShape="1">
              <a:blip r:embed="rId6">
                <a:alphaModFix/>
              </a:blip>
              <a:stretch>
                <a:fillRect b="-18999" l="0" r="0" t="-18999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1" name="Google Shape;121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78200" y="2534300"/>
            <a:ext cx="2715575" cy="357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/>
          <p:nvPr/>
        </p:nvSpPr>
        <p:spPr>
          <a:xfrm>
            <a:off x="9508672" y="6113924"/>
            <a:ext cx="43269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Docente guia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/>
          <p:nvPr/>
        </p:nvSpPr>
        <p:spPr>
          <a:xfrm>
            <a:off x="6350200" y="932617"/>
            <a:ext cx="7416403" cy="20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5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Plataforma Comunitaria de Trueques Digitales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350198" y="3015377"/>
            <a:ext cx="7416403" cy="177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En la actualidad, las personas acumulan objetos que ya no utilizan, generando desperdicio innecesario, contaminación ambiental y pérdida de valor económico. Esta realidad la observamos en nuestras propias familias, donde múltiples artículos permanecen sin uso desde su compra inicial.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683335" y="5348047"/>
            <a:ext cx="7083266" cy="14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2E6E9"/>
                </a:solidFill>
                <a:latin typeface="ADLaM Display"/>
                <a:ea typeface="ADLaM Display"/>
                <a:cs typeface="ADLaM Display"/>
                <a:sym typeface="ADLaM Display"/>
              </a:rPr>
              <a:t>TeLoCambio</a:t>
            </a:r>
            <a:r>
              <a:rPr b="0" i="0" lang="en-US" sz="17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es una plataforma comunitaria segura de trueques digitales entre vecinos, diseñada para fomentar la economía circular dentro de comunidades cerradas, donde todos los usuarios pertenecen realmente a la comunidad y se conocen entre sí.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350198" y="5098137"/>
            <a:ext cx="30480" cy="1921431"/>
          </a:xfrm>
          <a:prstGeom prst="rect">
            <a:avLst/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784622" y="639366"/>
            <a:ext cx="3864293" cy="455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Objetivos del Proyecto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84622" y="1386248"/>
            <a:ext cx="13061156" cy="1103233"/>
          </a:xfrm>
          <a:prstGeom prst="roundRect">
            <a:avLst>
              <a:gd fmla="val 5548" name="adj"/>
            </a:avLst>
          </a:prstGeom>
          <a:solidFill>
            <a:srgbClr val="09151A">
              <a:alpha val="94901"/>
            </a:srgbClr>
          </a:solidFill>
          <a:ln cap="flat" cmpd="sng" w="152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99862" y="1401485"/>
            <a:ext cx="582930" cy="1072753"/>
          </a:xfrm>
          <a:prstGeom prst="roundRect">
            <a:avLst>
              <a:gd fmla="val 7363" name="adj"/>
            </a:avLst>
          </a:prstGeom>
          <a:solidFill>
            <a:srgbClr val="0031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978218" y="1801177"/>
            <a:ext cx="218599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1528524" y="1547217"/>
            <a:ext cx="1821656" cy="22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 General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1528525" y="1862260"/>
            <a:ext cx="12156281" cy="46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Desarrollar una plataforma digital integral para gestionar intercambios dentro de comunidades cerradas, asegurando trazabilidad completa, seguridad robusta y experiencia de usuario optimizada.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84622" y="2635212"/>
            <a:ext cx="13061156" cy="874395"/>
          </a:xfrm>
          <a:prstGeom prst="roundRect">
            <a:avLst>
              <a:gd fmla="val 7000" name="adj"/>
            </a:avLst>
          </a:prstGeom>
          <a:solidFill>
            <a:srgbClr val="09151A">
              <a:alpha val="94901"/>
            </a:srgbClr>
          </a:solidFill>
          <a:ln cap="flat" cmpd="sng" w="152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99862" y="2650450"/>
            <a:ext cx="582930" cy="843915"/>
          </a:xfrm>
          <a:prstGeom prst="roundRect">
            <a:avLst>
              <a:gd fmla="val 7363" name="adj"/>
            </a:avLst>
          </a:prstGeom>
          <a:solidFill>
            <a:srgbClr val="0031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78218" y="2935724"/>
            <a:ext cx="218599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528524" y="2796183"/>
            <a:ext cx="2174081" cy="22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Gestión de Publicaciones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528525" y="3111222"/>
            <a:ext cx="12156281" cy="233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Implementar sistema completo para administrar artículos ofrecidos por los usuarios.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784622" y="3655341"/>
            <a:ext cx="13061156" cy="874395"/>
          </a:xfrm>
          <a:prstGeom prst="roundRect">
            <a:avLst>
              <a:gd fmla="val 7000" name="adj"/>
            </a:avLst>
          </a:prstGeom>
          <a:solidFill>
            <a:srgbClr val="09151A">
              <a:alpha val="94901"/>
            </a:srgbClr>
          </a:solidFill>
          <a:ln cap="flat" cmpd="sng" w="152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99862" y="3670578"/>
            <a:ext cx="582930" cy="843915"/>
          </a:xfrm>
          <a:prstGeom prst="roundRect">
            <a:avLst>
              <a:gd fmla="val 7363" name="adj"/>
            </a:avLst>
          </a:prstGeom>
          <a:solidFill>
            <a:srgbClr val="0031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78218" y="3955852"/>
            <a:ext cx="218599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528524" y="3816310"/>
            <a:ext cx="2095381" cy="22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 de Intercambios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1528525" y="4131350"/>
            <a:ext cx="12156281" cy="233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Facilitar y supervisar todos los procesos de intercambio entre miembros.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784622" y="4675467"/>
            <a:ext cx="13061156" cy="874395"/>
          </a:xfrm>
          <a:prstGeom prst="roundRect">
            <a:avLst>
              <a:gd fmla="val 7000" name="adj"/>
            </a:avLst>
          </a:prstGeom>
          <a:solidFill>
            <a:srgbClr val="09151A">
              <a:alpha val="94901"/>
            </a:srgbClr>
          </a:solidFill>
          <a:ln cap="flat" cmpd="sng" w="152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799862" y="4690705"/>
            <a:ext cx="582930" cy="843915"/>
          </a:xfrm>
          <a:prstGeom prst="roundRect">
            <a:avLst>
              <a:gd fmla="val 7363" name="adj"/>
            </a:avLst>
          </a:prstGeom>
          <a:solidFill>
            <a:srgbClr val="0031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978218" y="4975979"/>
            <a:ext cx="218599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1528524" y="4836438"/>
            <a:ext cx="2099429" cy="22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Sistema de Valoraciones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1528525" y="5151477"/>
            <a:ext cx="12156281" cy="233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Permitir evaluaciones bidireccionales para construir confianza comunitaria.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784622" y="5695596"/>
            <a:ext cx="13061156" cy="874395"/>
          </a:xfrm>
          <a:prstGeom prst="roundRect">
            <a:avLst>
              <a:gd fmla="val 7000" name="adj"/>
            </a:avLst>
          </a:prstGeom>
          <a:solidFill>
            <a:srgbClr val="09151A">
              <a:alpha val="94901"/>
            </a:srgbClr>
          </a:solidFill>
          <a:ln cap="flat" cmpd="sng" w="152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799862" y="5710833"/>
            <a:ext cx="582930" cy="843915"/>
          </a:xfrm>
          <a:prstGeom prst="roundRect">
            <a:avLst>
              <a:gd fmla="val 7363" name="adj"/>
            </a:avLst>
          </a:prstGeom>
          <a:solidFill>
            <a:srgbClr val="0031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978218" y="5996107"/>
            <a:ext cx="218599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1528524" y="5856565"/>
            <a:ext cx="2514005" cy="22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Administración Comunitaria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1528525" y="6171605"/>
            <a:ext cx="12156281" cy="233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Gestionar padrones de usuarios y estructura de comunidades cerradas.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784622" y="6715722"/>
            <a:ext cx="13061156" cy="874395"/>
          </a:xfrm>
          <a:prstGeom prst="roundRect">
            <a:avLst>
              <a:gd fmla="val 7000" name="adj"/>
            </a:avLst>
          </a:prstGeom>
          <a:solidFill>
            <a:srgbClr val="09151A">
              <a:alpha val="94901"/>
            </a:srgbClr>
          </a:solidFill>
          <a:ln cap="flat" cmpd="sng" w="152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799862" y="6730960"/>
            <a:ext cx="582930" cy="843915"/>
          </a:xfrm>
          <a:prstGeom prst="roundRect">
            <a:avLst>
              <a:gd fmla="val 7363" name="adj"/>
            </a:avLst>
          </a:prstGeom>
          <a:solidFill>
            <a:srgbClr val="0031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978218" y="7016234"/>
            <a:ext cx="218599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1528524" y="6876693"/>
            <a:ext cx="1821656" cy="22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Seguridad Avanzada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528525" y="7191732"/>
            <a:ext cx="12156281" cy="233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Garantizar protección mediante multitenancy, autenticación JWT y encriptación Bcrypt.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9132b32c46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9132b32c46_0_6"/>
          <p:cNvSpPr/>
          <p:nvPr/>
        </p:nvSpPr>
        <p:spPr>
          <a:xfrm>
            <a:off x="1345368" y="451825"/>
            <a:ext cx="60348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Alcances y Limitaciones del Proyecto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9132b32c46_0_6"/>
          <p:cNvSpPr/>
          <p:nvPr/>
        </p:nvSpPr>
        <p:spPr>
          <a:xfrm>
            <a:off x="7489269" y="8255913"/>
            <a:ext cx="6551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2" lvl="0" marL="342892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050"/>
              <a:buFont typeface="Merriweather"/>
              <a:buChar char="•"/>
            </a:pPr>
            <a:r>
              <a:rPr lang="en-US" sz="10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Limitaciones técnicas inherentes a Supabase como plataforma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g39132b32c46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445" y="1399020"/>
            <a:ext cx="8378675" cy="478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0" name="Google Shape;180;g39132b32c46_0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98600" y="1687125"/>
            <a:ext cx="4010177" cy="359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9132b32c46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98600" y="988600"/>
            <a:ext cx="4010176" cy="58652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9132b32c46_0_6"/>
          <p:cNvSpPr/>
          <p:nvPr/>
        </p:nvSpPr>
        <p:spPr>
          <a:xfrm>
            <a:off x="8476650" y="5532263"/>
            <a:ext cx="5219700" cy="2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Plazos ajustados con alta carga académica paralela</a:t>
            </a:r>
            <a:b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Desafíos de versionamiento y compatibilidad entre dependencias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400" cy="23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/>
          <p:nvPr/>
        </p:nvSpPr>
        <p:spPr>
          <a:xfrm>
            <a:off x="863798" y="3041690"/>
            <a:ext cx="5241012" cy="578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Metodología de Trabajo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25052" y="3905909"/>
            <a:ext cx="5409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E2E6E9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01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63798" y="4189333"/>
            <a:ext cx="6358890" cy="22860"/>
          </a:xfrm>
          <a:prstGeom prst="rect">
            <a:avLst/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863811" y="4325415"/>
            <a:ext cx="25020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Enfoque Metodológico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63798" y="4727853"/>
            <a:ext cx="6358890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Implementación de Scrum adaptado, complementado estratégicamente con planificación mediante Carta Gantt para visualización temporal.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7407737" y="3897750"/>
            <a:ext cx="4077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E2E6E9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02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7407712" y="4189333"/>
            <a:ext cx="6358890" cy="22860"/>
          </a:xfrm>
          <a:prstGeom prst="rect">
            <a:avLst/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7407712" y="4327566"/>
            <a:ext cx="2718792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Organización del Equipo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7407712" y="4727856"/>
            <a:ext cx="6358890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Coordinación continua mediante reuniones regulares en Google Meet, facilitando comunicación efectiva y resolución ágil de impedimentos.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863804" y="5644150"/>
            <a:ext cx="5409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E2E6E9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03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863798" y="5935742"/>
            <a:ext cx="6358890" cy="22860"/>
          </a:xfrm>
          <a:prstGeom prst="rect">
            <a:avLst/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63798" y="6073973"/>
            <a:ext cx="2363272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Distribución de Roles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63798" y="6474262"/>
            <a:ext cx="6358890" cy="888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Equipo multidisciplinario trabajando como full stack developers. Rodrigo asumió responsabilidades adicionales de supervisión y análisis arquitectónico general.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7407746" y="5644150"/>
            <a:ext cx="5409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E2E6E9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04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407712" y="5935742"/>
            <a:ext cx="6358890" cy="22860"/>
          </a:xfrm>
          <a:prstGeom prst="rect">
            <a:avLst/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7407714" y="6073974"/>
            <a:ext cx="2361843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Estructura de Sprints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7407712" y="6474263"/>
            <a:ext cx="6358890" cy="888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Desarrollo organizado en 4 sprints extendidos, cada uno con entregables específicos y reflejados detalladamente en la planificación Gantt.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515382" y="578870"/>
            <a:ext cx="7793774" cy="84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Cronograma del Proyecto</a:t>
            </a:r>
            <a:endParaRPr sz="4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6386" y="2137205"/>
            <a:ext cx="308491" cy="246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807915"/>
            <a:ext cx="14630402" cy="4613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/>
          <p:nvPr/>
        </p:nvSpPr>
        <p:spPr>
          <a:xfrm>
            <a:off x="863798" y="695682"/>
            <a:ext cx="5299353" cy="539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del Software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5831" y="1581153"/>
            <a:ext cx="8998625" cy="419516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3146964" y="2171670"/>
            <a:ext cx="2032134" cy="25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029552" y="2497941"/>
            <a:ext cx="2149546" cy="406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Usuario ↔ Frontend (React + Vite + Tailwind)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9451096" y="2858080"/>
            <a:ext cx="2032134" cy="25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API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9451097" y="3184350"/>
            <a:ext cx="2149546" cy="406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Django REST Framework con JWT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146964" y="3562553"/>
            <a:ext cx="2032134" cy="25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Lógica de Negocio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029552" y="3888823"/>
            <a:ext cx="2149546" cy="406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Endpoints, validaciones y reglas de negocio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9451096" y="4348312"/>
            <a:ext cx="2032134" cy="25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9451097" y="4674582"/>
            <a:ext cx="2149546" cy="406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PostgreSQL en Supabase y Supabase Storage (Bucket)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863798" y="5970627"/>
            <a:ext cx="4185761" cy="1563291"/>
          </a:xfrm>
          <a:prstGeom prst="roundRect">
            <a:avLst>
              <a:gd fmla="val 4642" name="adj"/>
            </a:avLst>
          </a:prstGeom>
          <a:solidFill>
            <a:srgbClr val="003180"/>
          </a:solidFill>
          <a:ln cap="flat" cmpd="sng" w="95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1044178" y="6151007"/>
            <a:ext cx="2205395" cy="26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Capa de Presentación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1044178" y="6524506"/>
            <a:ext cx="3825002" cy="82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React 18 + Vite + Tailwind:</a:t>
            </a: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Interfaz de usuario moderna y reactiva con renderizado optimizado.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222322" y="5970630"/>
            <a:ext cx="4185761" cy="1563291"/>
          </a:xfrm>
          <a:prstGeom prst="roundRect">
            <a:avLst>
              <a:gd fmla="val 4642" name="adj"/>
            </a:avLst>
          </a:prstGeom>
          <a:solidFill>
            <a:srgbClr val="003180"/>
          </a:solidFill>
          <a:ln cap="flat" cmpd="sng" w="95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402702" y="6151010"/>
            <a:ext cx="2159675" cy="26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Capa de API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5402700" y="6524506"/>
            <a:ext cx="3825002" cy="82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Django REST Framework:</a:t>
            </a: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Backend robusto con endpoints RESTful y autenticación JWT mediante SimpleJWT.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9580843" y="5970630"/>
            <a:ext cx="4185761" cy="1563291"/>
          </a:xfrm>
          <a:prstGeom prst="roundRect">
            <a:avLst>
              <a:gd fmla="val 4642" name="adj"/>
            </a:avLst>
          </a:prstGeom>
          <a:solidFill>
            <a:srgbClr val="003180"/>
          </a:solidFill>
          <a:ln cap="flat" cmpd="sng" w="95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9761223" y="6151010"/>
            <a:ext cx="2159675" cy="26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Capa de Datos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9761221" y="6524506"/>
            <a:ext cx="3825002" cy="82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PostgreSQL (Supabase):</a:t>
            </a: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Base de datos relacional con Storage integrado para gestión de archivos multimedia.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83525" y="0"/>
            <a:ext cx="14713923" cy="8229601"/>
          </a:xfrm>
          <a:prstGeom prst="rect">
            <a:avLst/>
          </a:prstGeom>
          <a:solidFill>
            <a:srgbClr val="001D4D"/>
          </a:solidFill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863798" y="780217"/>
            <a:ext cx="4475678" cy="539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 Obtenidos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863798" y="1924764"/>
            <a:ext cx="6364962" cy="1553647"/>
          </a:xfrm>
          <a:prstGeom prst="roundRect">
            <a:avLst>
              <a:gd fmla="val 7063" name="adj"/>
            </a:avLst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863798" y="1901904"/>
            <a:ext cx="6364962" cy="91440"/>
          </a:xfrm>
          <a:prstGeom prst="roundRect">
            <a:avLst>
              <a:gd fmla="val 79362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3787083" y="1665687"/>
            <a:ext cx="518279" cy="518279"/>
          </a:xfrm>
          <a:prstGeom prst="roundRect">
            <a:avLst>
              <a:gd fmla="val 176430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3942576" y="1795224"/>
            <a:ext cx="20728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1059418" y="2356604"/>
            <a:ext cx="2237065" cy="26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Plataforma Funcional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059418" y="2730103"/>
            <a:ext cx="5973723" cy="5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Sistema operativo al 100% en entorno local con todas las funcionalidades implementadas y probadas.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7401523" y="1924767"/>
            <a:ext cx="6365081" cy="1553647"/>
          </a:xfrm>
          <a:prstGeom prst="roundRect">
            <a:avLst>
              <a:gd fmla="val 7063" name="adj"/>
            </a:avLst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7401523" y="1901904"/>
            <a:ext cx="6365081" cy="91440"/>
          </a:xfrm>
          <a:prstGeom prst="roundRect">
            <a:avLst>
              <a:gd fmla="val 79362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0324924" y="1665687"/>
            <a:ext cx="518279" cy="518279"/>
          </a:xfrm>
          <a:prstGeom prst="roundRect">
            <a:avLst>
              <a:gd fmla="val 176430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0480417" y="1795224"/>
            <a:ext cx="20728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597143" y="2356607"/>
            <a:ext cx="2159675" cy="26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Backend Estable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7597141" y="2730104"/>
            <a:ext cx="5973842" cy="5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API REST robusta con rendimiento comprobado y manejo eficiente de peticiones concurrentes.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863798" y="3910251"/>
            <a:ext cx="6364962" cy="1553647"/>
          </a:xfrm>
          <a:prstGeom prst="roundRect">
            <a:avLst>
              <a:gd fmla="val 7063" name="adj"/>
            </a:avLst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863798" y="3887391"/>
            <a:ext cx="6364962" cy="91440"/>
          </a:xfrm>
          <a:prstGeom prst="roundRect">
            <a:avLst>
              <a:gd fmla="val 79362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3787083" y="3651174"/>
            <a:ext cx="518279" cy="518279"/>
          </a:xfrm>
          <a:prstGeom prst="roundRect">
            <a:avLst>
              <a:gd fmla="val 176430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3942576" y="3780711"/>
            <a:ext cx="20728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059418" y="4342090"/>
            <a:ext cx="2371249" cy="26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Seguridad Garantizada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059418" y="4715589"/>
            <a:ext cx="5973723" cy="5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multitenant completa, autenticación JWT y encriptación de contraseñas mediante Bcrypt.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7401523" y="3910254"/>
            <a:ext cx="6365081" cy="1553647"/>
          </a:xfrm>
          <a:prstGeom prst="roundRect">
            <a:avLst>
              <a:gd fmla="val 7063" name="adj"/>
            </a:avLst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7401523" y="3887391"/>
            <a:ext cx="6365081" cy="91440"/>
          </a:xfrm>
          <a:prstGeom prst="roundRect">
            <a:avLst>
              <a:gd fmla="val 79362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0324924" y="3651174"/>
            <a:ext cx="518279" cy="518279"/>
          </a:xfrm>
          <a:prstGeom prst="roundRect">
            <a:avLst>
              <a:gd fmla="val 176430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0480417" y="3780711"/>
            <a:ext cx="20728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7597143" y="4342093"/>
            <a:ext cx="2159675" cy="26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Interfaz Optimizada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597141" y="4715589"/>
            <a:ext cx="5973842" cy="5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Diseño moderno, totalmente responsivo y con experiencia de usuario intuitiva validada.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863798" y="5895737"/>
            <a:ext cx="6364962" cy="1553647"/>
          </a:xfrm>
          <a:prstGeom prst="roundRect">
            <a:avLst>
              <a:gd fmla="val 7063" name="adj"/>
            </a:avLst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863798" y="5872877"/>
            <a:ext cx="6364962" cy="91440"/>
          </a:xfrm>
          <a:prstGeom prst="roundRect">
            <a:avLst>
              <a:gd fmla="val 79362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3787083" y="5636660"/>
            <a:ext cx="518279" cy="518279"/>
          </a:xfrm>
          <a:prstGeom prst="roundRect">
            <a:avLst>
              <a:gd fmla="val 176430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942576" y="5766197"/>
            <a:ext cx="20728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059418" y="6327577"/>
            <a:ext cx="2467689" cy="26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Validación con Usuarios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1059418" y="6701076"/>
            <a:ext cx="5973723" cy="5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Pruebas exitosas con usuarios reales demostrando usabilidad y efectividad del sistema.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7401523" y="5895740"/>
            <a:ext cx="6365081" cy="1553647"/>
          </a:xfrm>
          <a:prstGeom prst="roundRect">
            <a:avLst>
              <a:gd fmla="val 7063" name="adj"/>
            </a:avLst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7401523" y="5872877"/>
            <a:ext cx="6365081" cy="91440"/>
          </a:xfrm>
          <a:prstGeom prst="roundRect">
            <a:avLst>
              <a:gd fmla="val 79362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10324924" y="5636660"/>
            <a:ext cx="518279" cy="518279"/>
          </a:xfrm>
          <a:prstGeom prst="roundRect">
            <a:avLst>
              <a:gd fmla="val 176430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10480417" y="5766197"/>
            <a:ext cx="20728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7597143" y="6327580"/>
            <a:ext cx="2630329" cy="26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Flujo Completo Operativo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7597141" y="6701076"/>
            <a:ext cx="5973842" cy="5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Ciclo integral funcionando: publicación de artículos → ofertas de intercambio → aceptación → valoración mutua.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ad41269594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ad41269594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751" y="0"/>
            <a:ext cx="14056899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2"/>
          <p:cNvSpPr/>
          <p:nvPr/>
        </p:nvSpPr>
        <p:spPr>
          <a:xfrm>
            <a:off x="926971" y="652125"/>
            <a:ext cx="90669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Obstáculos Presentados y Aprendizajes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871363" y="1723288"/>
            <a:ext cx="13032819" cy="237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Durante el desarrollo, enfrentamos diversos desafíos técnicos y organizacionales que nos permitieron crecer como equipo y mejorar nuestras habilidades profesionales: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6" name="Google Shape;30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965" y="2131851"/>
            <a:ext cx="222528" cy="22252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2"/>
          <p:cNvSpPr/>
          <p:nvPr/>
        </p:nvSpPr>
        <p:spPr>
          <a:xfrm>
            <a:off x="1353452" y="2127375"/>
            <a:ext cx="3834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Limitaciones de Supabase IPv6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1353448" y="2448142"/>
            <a:ext cx="12550735" cy="237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Problemas de conectividad debido a que Supabase opera exclusivamente con IPv6, requiriendo soluciones alternativas de red.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9" name="Google Shape;30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965" y="2986601"/>
            <a:ext cx="222528" cy="22252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2"/>
          <p:cNvSpPr/>
          <p:nvPr/>
        </p:nvSpPr>
        <p:spPr>
          <a:xfrm>
            <a:off x="1353451" y="2982125"/>
            <a:ext cx="4739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Complejidad del Sistema de Intercambios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1353448" y="3302892"/>
            <a:ext cx="12550735" cy="237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Manejo de cuatro estados diferentes con múltiples reglas de negocio y validaciones cruzadas entre usuarios.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965" y="3841351"/>
            <a:ext cx="222528" cy="22252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/>
          <p:nvPr/>
        </p:nvSpPr>
        <p:spPr>
          <a:xfrm>
            <a:off x="1353452" y="3836875"/>
            <a:ext cx="4095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Gestión de Imágenes Avanzada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353448" y="4157641"/>
            <a:ext cx="12550735" cy="237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Implementación de funcionalidad drag &amp; drop para ordenamiento dinámico de múltiples imágenes por publicación.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5" name="Google Shape;31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963" y="4764165"/>
            <a:ext cx="222528" cy="22252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2"/>
          <p:cNvSpPr/>
          <p:nvPr/>
        </p:nvSpPr>
        <p:spPr>
          <a:xfrm>
            <a:off x="1353453" y="4759700"/>
            <a:ext cx="3834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 de Roles y Permisos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1353446" y="5080455"/>
            <a:ext cx="12550735" cy="237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Diseño e implementación de sistema granular de permisos adaptado a diferentes niveles de acceso comunitario.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963" y="5618915"/>
            <a:ext cx="222528" cy="22252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2"/>
          <p:cNvSpPr/>
          <p:nvPr/>
        </p:nvSpPr>
        <p:spPr>
          <a:xfrm>
            <a:off x="1353454" y="5614450"/>
            <a:ext cx="4983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Versionamiento de Dependencias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1353446" y="5935205"/>
            <a:ext cx="12550735" cy="237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Resolución de conflictos entre versiones de bibliotecas y compatibilidad de paquetes durante el ciclo de desarrollo.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1093888" y="6506112"/>
            <a:ext cx="12810292" cy="474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Cada obstáculo representó una oportunidad de aprendizaje que fortaleció nuestras capacidades técnicas y de trabajo en equipo, resultando en un producto final robusto y profesional.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871360" y="6339302"/>
            <a:ext cx="15240" cy="808196"/>
          </a:xfrm>
          <a:prstGeom prst="rect">
            <a:avLst/>
          </a:prstGeom>
          <a:solidFill>
            <a:srgbClr val="609D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6924" y="121775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0"/>
          <p:cNvSpPr txBox="1"/>
          <p:nvPr/>
        </p:nvSpPr>
        <p:spPr>
          <a:xfrm>
            <a:off x="-1642173" y="518640"/>
            <a:ext cx="17556600" cy="13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 DEL PROYECTO</a:t>
            </a:r>
            <a:endParaRPr sz="4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6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4528" y="1341750"/>
            <a:ext cx="8643225" cy="666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"/>
          <p:cNvSpPr txBox="1"/>
          <p:nvPr/>
        </p:nvSpPr>
        <p:spPr>
          <a:xfrm>
            <a:off x="-2" y="727550"/>
            <a:ext cx="14237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PREGUNTAS DE LA COMISIÓN</a:t>
            </a:r>
            <a:endParaRPr sz="4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35" name="Google Shape;33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3725" y="2169125"/>
            <a:ext cx="7262950" cy="60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Office 2013 - Tema de 2022">
  <a:themeElements>
    <a:clrScheme name="Office 2013 - Tema de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2013 - Tema de 2022">
  <a:themeElements>
    <a:clrScheme name="Office 2013 - Tema de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